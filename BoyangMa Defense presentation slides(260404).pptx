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6" r:id="rId3"/>
    <p:sldId id="257" r:id="rId5"/>
    <p:sldId id="268" r:id="rId6"/>
    <p:sldId id="258" r:id="rId7"/>
    <p:sldId id="259" r:id="rId8"/>
    <p:sldId id="269" r:id="rId9"/>
    <p:sldId id="260" r:id="rId10"/>
    <p:sldId id="261" r:id="rId11"/>
    <p:sldId id="262" r:id="rId12"/>
    <p:sldId id="263" r:id="rId13"/>
    <p:sldId id="264" r:id="rId14"/>
    <p:sldId id="270" r:id="rId15"/>
    <p:sldId id="265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8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image" Target="../media/image10.png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image" Target="../media/image9.png"/><Relationship Id="rId10" Type="http://schemas.openxmlformats.org/officeDocument/2006/relationships/tags" Target="../tags/tag8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tags" Target="../tags/tag16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647179"/>
            <a:ext cx="7143750" cy="219447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5" b="1" dirty="0">
                <a:solidFill>
                  <a:srgbClr val="0F172A"/>
                </a:solidFill>
                <a:latin typeface="Sitka Display" charset="0"/>
                <a:ea typeface="Sitka Display" charset="0"/>
                <a:cs typeface="Sitka Display" charset="0"/>
              </a:rPr>
              <a:t>Design and Implementation of University Course Automatic Scheduling System Based on Genetic Algorithm</a:t>
            </a:r>
            <a:endParaRPr lang="en-US" sz="3295" dirty="0"/>
          </a:p>
        </p:txBody>
      </p:sp>
      <p:sp>
        <p:nvSpPr>
          <p:cNvPr id="4" name="Text 1"/>
          <p:cNvSpPr/>
          <p:nvPr/>
        </p:nvSpPr>
        <p:spPr>
          <a:xfrm>
            <a:off x="1741289" y="3163119"/>
            <a:ext cx="5661422" cy="27682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D97706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2025/26 Academic Year Graduation Project Defense</a:t>
            </a:r>
            <a:endParaRPr lang="en-US" sz="1705" dirty="0"/>
          </a:p>
        </p:txBody>
      </p:sp>
      <p:sp>
        <p:nvSpPr>
          <p:cNvPr id="5" name="Text 2"/>
          <p:cNvSpPr/>
          <p:nvPr/>
        </p:nvSpPr>
        <p:spPr>
          <a:xfrm>
            <a:off x="3579078" y="3668539"/>
            <a:ext cx="512445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Presenter</a:t>
            </a:r>
            <a:endParaRPr lang="en-US" sz="12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523833" y="3877494"/>
            <a:ext cx="622935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algn="ctr">
              <a:lnSpc>
                <a:spcPts val="1400"/>
              </a:lnSpc>
              <a:buClrTx/>
              <a:buSzTx/>
              <a:buNone/>
            </a:pPr>
            <a:r>
              <a:rPr lang="en-US" sz="12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Boyang Ma</a:t>
            </a:r>
            <a:endParaRPr lang="en-US" sz="12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992470" y="3668539"/>
            <a:ext cx="632460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Student ID</a:t>
            </a:r>
            <a:endParaRPr lang="en-US" sz="12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08980" y="3877494"/>
            <a:ext cx="599440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14548822</a:t>
            </a:r>
            <a:endParaRPr lang="en-US" sz="12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538439" y="4136454"/>
            <a:ext cx="593725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Supervisor</a:t>
            </a:r>
            <a:endParaRPr lang="en-US" sz="12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466366" y="4345409"/>
            <a:ext cx="737870" cy="3587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Mark Elshaw</a:t>
            </a:r>
            <a:endParaRPr lang="en-US" sz="12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Xinyan Yu</a:t>
            </a:r>
            <a:endParaRPr lang="en-US" sz="12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173762" y="4136454"/>
            <a:ext cx="269875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Date</a:t>
            </a:r>
            <a:endParaRPr lang="en-US" sz="12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97232" y="4345409"/>
            <a:ext cx="622935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April 2026</a:t>
            </a:r>
            <a:endParaRPr lang="en-US" sz="12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660015" y="4807888"/>
            <a:ext cx="382397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Communication University of China | Hainan International College</a:t>
            </a:r>
            <a:endParaRPr lang="en-US" sz="1200" dirty="0">
              <a:solidFill>
                <a:srgbClr val="64748B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13231"/>
            <a:ext cx="82296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F172A"/>
                </a:solidFill>
                <a:latin typeface="Sitka Display" charset="0"/>
                <a:ea typeface="Sitka Display" charset="0"/>
                <a:cs typeface="Sitka Display" charset="0"/>
              </a:rPr>
              <a:t>Research Background and Motivation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457200" y="1477612"/>
            <a:ext cx="201993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The Complexity of UCTP</a:t>
            </a:r>
            <a:endParaRPr lang="en-US" sz="16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799081"/>
            <a:ext cx="4526291" cy="692150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University Course Timetabling Problem (UCTP) is a classic </a:t>
            </a:r>
            <a:r>
              <a:rPr lang="en-US" sz="1600" b="1" dirty="0">
                <a:solidFill>
                  <a:srgbClr val="D97706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NP-complete</a:t>
            </a: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 problem with astronomical solution spaces.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2542031"/>
            <a:ext cx="4526291" cy="46164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Traditional manual scheduling takes weeks of effort and is highly </a:t>
            </a:r>
            <a:r>
              <a:rPr lang="en-US" sz="1600" b="1" dirty="0">
                <a:solidFill>
                  <a:srgbClr val="D97706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error-prone</a:t>
            </a: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3119881"/>
            <a:ext cx="4526291" cy="46164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Lack of flexibility leads to low resource utilization and stakeholder dissatisfaction.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326391" y="1477612"/>
            <a:ext cx="3360409" cy="2521744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" name="Shape 6"/>
          <p:cNvSpPr/>
          <p:nvPr/>
        </p:nvSpPr>
        <p:spPr>
          <a:xfrm>
            <a:off x="5326391" y="1477612"/>
            <a:ext cx="3360409" cy="28575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0" name="Text 7"/>
          <p:cNvSpPr/>
          <p:nvPr/>
        </p:nvSpPr>
        <p:spPr>
          <a:xfrm>
            <a:off x="457200" y="1799081"/>
            <a:ext cx="67310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•</a:t>
            </a:r>
            <a:endParaRPr lang="en-US" sz="1400" b="1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2631566"/>
            <a:ext cx="67310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•</a:t>
            </a:r>
            <a:endParaRPr lang="en-US" sz="1400" b="1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3230371"/>
            <a:ext cx="67310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•</a:t>
            </a:r>
            <a:endParaRPr lang="en-US" sz="1400" b="1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97841" y="1620487"/>
            <a:ext cx="217868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Media University Pain Points</a:t>
            </a:r>
            <a:endParaRPr lang="en-US" sz="16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97841" y="1941956"/>
            <a:ext cx="3017509" cy="46164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Diverse course types: Theory vs. Practical training.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497841" y="2542031"/>
            <a:ext cx="3017509" cy="46164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Specialized venues: </a:t>
            </a:r>
            <a:r>
              <a:rPr lang="en-US" sz="1600" b="1" dirty="0">
                <a:solidFill>
                  <a:srgbClr val="D97706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Studios, Recording Rooms, Animation Labs</a:t>
            </a: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497841" y="3142106"/>
            <a:ext cx="3017509" cy="692150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Strict equipment configurations and capacity limits for professional production.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497841" y="1941956"/>
            <a:ext cx="67310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•</a:t>
            </a:r>
            <a:endParaRPr lang="en-US" sz="1400" b="1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497841" y="2542031"/>
            <a:ext cx="67310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•</a:t>
            </a:r>
            <a:endParaRPr lang="en-US" sz="1400" b="1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497841" y="3142106"/>
            <a:ext cx="67310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•</a:t>
            </a:r>
            <a:endParaRPr lang="en-US" sz="1400" b="1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6830060" cy="4102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algn="l">
              <a:lnSpc>
                <a:spcPts val="3200"/>
              </a:lnSpc>
              <a:buClrTx/>
              <a:buSzTx/>
              <a:buFontTx/>
              <a:buNone/>
            </a:pPr>
            <a:r>
              <a:rPr lang="en-US" sz="2435" b="1" dirty="0">
                <a:solidFill>
                  <a:srgbClr val="0F172A"/>
                </a:solidFill>
                <a:latin typeface="Sitka Display" charset="0"/>
                <a:ea typeface="Sitka Display" charset="0"/>
                <a:cs typeface="Sitka Display" charset="0"/>
              </a:rPr>
              <a:t>Literature Review: Evolution of UCTP Methods</a:t>
            </a:r>
            <a:endParaRPr lang="en-US" sz="2435" b="1" dirty="0">
              <a:solidFill>
                <a:srgbClr val="0F172A"/>
              </a:solidFill>
              <a:latin typeface="Sitka Display" charset="0"/>
              <a:ea typeface="Sitka Display" charset="0"/>
              <a:cs typeface="Sitka Display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35940" y="1358232"/>
            <a:ext cx="261112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Evolution of Scheduling Methods</a:t>
            </a:r>
            <a:endParaRPr lang="en-US" sz="16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35781" y="1920525"/>
            <a:ext cx="85725" cy="85725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6" name="Text 3"/>
          <p:cNvSpPr/>
          <p:nvPr/>
        </p:nvSpPr>
        <p:spPr>
          <a:xfrm>
            <a:off x="663575" y="1619376"/>
            <a:ext cx="235585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00B050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1960s - 1980s: Exact Methods</a:t>
            </a:r>
            <a:endParaRPr lang="en-US" sz="1600" b="1" dirty="0">
              <a:solidFill>
                <a:srgbClr val="00B050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4695" y="1828886"/>
            <a:ext cx="4057650" cy="897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Gotlieb (1964):</a:t>
            </a:r>
            <a:r>
              <a:rPr lang="en-US" sz="940" dirty="0">
                <a:solidFill>
                  <a:srgbClr val="334155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</a:t>
            </a:r>
            <a:r>
              <a:rPr lang="en-US" sz="1600" dirty="0"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First mathematical formulation using Integer Programming.
</a:t>
            </a:r>
            <a:endParaRPr lang="en-US" sz="1600" dirty="0"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de Werra (1985):</a:t>
            </a:r>
            <a:r>
              <a:rPr lang="en-US" sz="940" dirty="0">
                <a:solidFill>
                  <a:srgbClr val="334155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</a:t>
            </a:r>
            <a:r>
              <a:rPr lang="en-US" sz="1600" dirty="0"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Graph Coloring framework for conflict modeling.</a:t>
            </a:r>
            <a:endParaRPr lang="en-US" sz="1600" dirty="0"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00100" y="2830264"/>
            <a:ext cx="243078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00B050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1990s - Present: Metaheuristics</a:t>
            </a:r>
            <a:endParaRPr lang="en-US" sz="1600" b="1" dirty="0">
              <a:solidFill>
                <a:srgbClr val="00B050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00100" y="3021360"/>
            <a:ext cx="4057650" cy="8972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Colorni et al. (1995):</a:t>
            </a:r>
            <a:r>
              <a:rPr lang="en-US" sz="940" dirty="0">
                <a:solidFill>
                  <a:srgbClr val="334155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</a:t>
            </a:r>
            <a:r>
              <a:rPr lang="en-US" sz="1600" dirty="0"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First application of Genetic Algorithms to UCTP.
</a:t>
            </a:r>
            <a:endParaRPr lang="en-US" sz="1600" dirty="0"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Srinivas &amp; Patnaik (1994):</a:t>
            </a:r>
            <a:r>
              <a:rPr lang="en-US" sz="940" dirty="0">
                <a:solidFill>
                  <a:srgbClr val="334155"/>
                </a:solidFill>
                <a:latin typeface="Century" panose="02040604050505020304" charset="0"/>
                <a:ea typeface="Century" panose="02040604050505020304" charset="0"/>
                <a:cs typeface="Century" panose="02040604050505020304" charset="0"/>
              </a:rPr>
              <a:t> </a:t>
            </a:r>
            <a:r>
              <a:rPr lang="en-US" sz="1600" dirty="0"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Theoretical basis for adaptive crossover and mutation probabilities.</a:t>
            </a:r>
            <a:endParaRPr lang="en-US" sz="1600" dirty="0"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286375" y="1534762"/>
            <a:ext cx="3286125" cy="250444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2" name="Shape 9"/>
          <p:cNvSpPr/>
          <p:nvPr/>
        </p:nvSpPr>
        <p:spPr>
          <a:xfrm>
            <a:off x="5286375" y="1534762"/>
            <a:ext cx="3286125" cy="28575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3" name="Text 10"/>
          <p:cNvSpPr/>
          <p:nvPr/>
        </p:nvSpPr>
        <p:spPr>
          <a:xfrm>
            <a:off x="5500688" y="1749075"/>
            <a:ext cx="107632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Research Gap</a:t>
            </a:r>
            <a:endParaRPr lang="en-US" sz="16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500688" y="2099118"/>
            <a:ext cx="28575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Most existing studies focus on </a:t>
            </a:r>
            <a:r>
              <a:rPr lang="en-US" sz="1600" dirty="0">
                <a:solidFill>
                  <a:srgbClr val="FFC000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standard classrooms</a:t>
            </a:r>
            <a:r>
              <a:rPr lang="en-US" sz="1600" dirty="0"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 with uniform constraints.</a:t>
            </a:r>
            <a:endParaRPr lang="en-US" sz="1600" dirty="0"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500688" y="2710579"/>
            <a:ext cx="219900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There is limited research on:</a:t>
            </a:r>
            <a:endParaRPr lang="en-US" sz="1600" dirty="0"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643563" y="2987734"/>
            <a:ext cx="2714625" cy="410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600"/>
              </a:lnSpc>
              <a:buSzPct val="100000"/>
              <a:buChar char="•"/>
            </a:pPr>
            <a:r>
              <a:rPr lang="en-US" sz="1600" dirty="0"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Specialized </a:t>
            </a:r>
            <a:r>
              <a:rPr lang="en-US" sz="1600" dirty="0">
                <a:solidFill>
                  <a:srgbClr val="FFC000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Media Facilities </a:t>
            </a:r>
            <a:r>
              <a:rPr lang="en-US" sz="1600" dirty="0"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(Studios, Recording Rooms).</a:t>
            </a:r>
            <a:endParaRPr lang="en-US" sz="1600" dirty="0"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643563" y="3470607"/>
            <a:ext cx="2714625" cy="410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27000" indent="-127000" algn="l">
              <a:lnSpc>
                <a:spcPts val="1600"/>
              </a:lnSpc>
              <a:buSzPct val="100000"/>
              <a:buChar char="•"/>
            </a:pPr>
            <a:r>
              <a:rPr lang="en-US" sz="1600" dirty="0"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Real-time </a:t>
            </a:r>
            <a:r>
              <a:rPr lang="en-US" sz="1600" dirty="0">
                <a:solidFill>
                  <a:srgbClr val="FFC000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Diversity-based </a:t>
            </a:r>
            <a:r>
              <a:rPr lang="en-US" sz="1600" dirty="0"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adaptive control mechanisms.</a:t>
            </a:r>
            <a:endParaRPr lang="en-US" sz="1600" dirty="0"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5405"/>
            <a:ext cx="9144000" cy="5208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770381"/>
            <a:ext cx="828675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F172A"/>
                </a:solidFill>
                <a:latin typeface="Sitka Display" charset="0"/>
                <a:ea typeface="Sitka Display" charset="0"/>
                <a:cs typeface="Sitka Display" charset="0"/>
              </a:rPr>
              <a:t>Problem Definition and Constraints</a:t>
            </a:r>
            <a:endParaRPr lang="en-US" sz="243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25" y="1559368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4188" y="1537937"/>
            <a:ext cx="1639570" cy="2432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Hard Constraints</a:t>
            </a:r>
            <a:endParaRPr lang="en-US" sz="2000" b="1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212725" y="1866550"/>
            <a:ext cx="371475" cy="15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7" name="Text 3"/>
          <p:cNvSpPr/>
          <p:nvPr/>
        </p:nvSpPr>
        <p:spPr>
          <a:xfrm>
            <a:off x="274956" y="1866550"/>
            <a:ext cx="247015" cy="160655"/>
          </a:xfrm>
          <a:prstGeom prst="rect">
            <a:avLst/>
          </a:prstGeom>
          <a:noFill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H1</a:t>
            </a:r>
            <a:endParaRPr lang="en-US" sz="990" b="1" dirty="0">
              <a:solidFill>
                <a:srgbClr val="FFFFFF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69925" y="1866550"/>
            <a:ext cx="955675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Class Overlap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13938" y="2036492"/>
            <a:ext cx="3322320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No student group can attend two courses at once.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212725" y="2348317"/>
            <a:ext cx="371475" cy="15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1" name="Text 7"/>
          <p:cNvSpPr/>
          <p:nvPr/>
        </p:nvSpPr>
        <p:spPr>
          <a:xfrm>
            <a:off x="274956" y="2341967"/>
            <a:ext cx="247015" cy="160655"/>
          </a:xfrm>
          <a:prstGeom prst="rect">
            <a:avLst/>
          </a:prstGeom>
          <a:noFill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H2</a:t>
            </a:r>
            <a:endParaRPr lang="en-US" sz="990" b="1" dirty="0">
              <a:solidFill>
                <a:srgbClr val="FFFFFF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87375" y="2348317"/>
            <a:ext cx="1119505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T</a:t>
            </a: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eacher Overlap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47105" y="2577949"/>
            <a:ext cx="2828925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No teacher can teach two courses at once.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15900" y="2980580"/>
            <a:ext cx="371475" cy="15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5" name="Text 11"/>
          <p:cNvSpPr/>
          <p:nvPr/>
        </p:nvSpPr>
        <p:spPr>
          <a:xfrm>
            <a:off x="275591" y="2980580"/>
            <a:ext cx="247015" cy="160655"/>
          </a:xfrm>
          <a:prstGeom prst="rect">
            <a:avLst/>
          </a:prstGeom>
          <a:noFill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H3</a:t>
            </a:r>
            <a:endParaRPr lang="en-US" sz="990" b="1" dirty="0">
              <a:solidFill>
                <a:srgbClr val="FFFFFF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13740" y="2980580"/>
            <a:ext cx="1059180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Room Capacity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13780" y="3147347"/>
            <a:ext cx="2941955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Enrollment must not exceed room capacity.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274955" y="3665548"/>
            <a:ext cx="371475" cy="15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9" name="Text 15"/>
          <p:cNvSpPr/>
          <p:nvPr/>
        </p:nvSpPr>
        <p:spPr>
          <a:xfrm>
            <a:off x="340996" y="3661738"/>
            <a:ext cx="247015" cy="160655"/>
          </a:xfrm>
          <a:prstGeom prst="rect">
            <a:avLst/>
          </a:prstGeom>
          <a:noFill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H4</a:t>
            </a:r>
            <a:endParaRPr lang="en-US" sz="990" b="1" dirty="0">
              <a:solidFill>
                <a:srgbClr val="FFFFFF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69925" y="3656023"/>
            <a:ext cx="1283335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Room Type Match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713661" y="3895815"/>
            <a:ext cx="3725545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Special courses must use specific venues (e.g., Studio).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298450" y="4281936"/>
            <a:ext cx="371475" cy="156576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3" name="Text 19"/>
          <p:cNvSpPr/>
          <p:nvPr/>
        </p:nvSpPr>
        <p:spPr>
          <a:xfrm>
            <a:off x="340995" y="4281805"/>
            <a:ext cx="270510" cy="171450"/>
          </a:xfrm>
          <a:prstGeom prst="rect">
            <a:avLst/>
          </a:prstGeom>
          <a:noFill/>
        </p:spPr>
        <p:txBody>
          <a:bodyPr wrap="none" lIns="51054" tIns="17018" rIns="51054" bIns="17018" rtlCol="0" anchor="t">
            <a:no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H5</a:t>
            </a:r>
            <a:endParaRPr lang="en-US" sz="990" b="1" dirty="0">
              <a:solidFill>
                <a:srgbClr val="FFFFFF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798195" y="4281936"/>
            <a:ext cx="1002665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Room Overlap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98433" y="4482993"/>
            <a:ext cx="2625090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No room can host two courses at once.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858" y="1559368"/>
            <a:ext cx="200025" cy="20002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918670" y="1537937"/>
            <a:ext cx="1374140" cy="2432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b="1" dirty="0">
                <a:solidFill>
                  <a:srgbClr val="D97706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Soft Constraints</a:t>
            </a:r>
            <a:endParaRPr lang="en-US" b="1" dirty="0">
              <a:solidFill>
                <a:srgbClr val="D97706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4647208" y="1866550"/>
            <a:ext cx="371475" cy="15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9" name="Text 24"/>
          <p:cNvSpPr/>
          <p:nvPr/>
        </p:nvSpPr>
        <p:spPr>
          <a:xfrm>
            <a:off x="4705946" y="1866550"/>
            <a:ext cx="227330" cy="160655"/>
          </a:xfrm>
          <a:prstGeom prst="rect">
            <a:avLst/>
          </a:prstGeom>
          <a:noFill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S1</a:t>
            </a:r>
            <a:endParaRPr lang="en-US" sz="990" b="1" dirty="0">
              <a:solidFill>
                <a:srgbClr val="FFFFFF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5104408" y="1866550"/>
            <a:ext cx="1312545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Teacher Preference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5104051" y="2106342"/>
            <a:ext cx="3070225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Maximize satisfaction of preferred time slots.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4647208" y="2357842"/>
            <a:ext cx="371475" cy="15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3" name="Text 28"/>
          <p:cNvSpPr/>
          <p:nvPr/>
        </p:nvSpPr>
        <p:spPr>
          <a:xfrm>
            <a:off x="4705946" y="2354032"/>
            <a:ext cx="227330" cy="160655"/>
          </a:xfrm>
          <a:prstGeom prst="rect">
            <a:avLst/>
          </a:prstGeom>
          <a:noFill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S2</a:t>
            </a:r>
            <a:endParaRPr lang="en-US" sz="990" b="1" dirty="0">
              <a:solidFill>
                <a:srgbClr val="FFFFFF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5055513" y="3655782"/>
            <a:ext cx="1482090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Course Concentration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5136713" y="3895574"/>
            <a:ext cx="3033395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Minimize gaps between courses for students.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36" name="Shape 31"/>
          <p:cNvSpPr/>
          <p:nvPr/>
        </p:nvSpPr>
        <p:spPr>
          <a:xfrm>
            <a:off x="4647208" y="2990105"/>
            <a:ext cx="371475" cy="15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7" name="Text 32"/>
          <p:cNvSpPr/>
          <p:nvPr/>
        </p:nvSpPr>
        <p:spPr>
          <a:xfrm>
            <a:off x="4713566" y="2990105"/>
            <a:ext cx="227330" cy="160655"/>
          </a:xfrm>
          <a:prstGeom prst="rect">
            <a:avLst/>
          </a:prstGeom>
          <a:noFill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S3</a:t>
            </a:r>
            <a:endParaRPr lang="en-US" sz="990" b="1" dirty="0">
              <a:solidFill>
                <a:srgbClr val="FFFFFF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38" name="Text 33"/>
          <p:cNvSpPr/>
          <p:nvPr/>
        </p:nvSpPr>
        <p:spPr>
          <a:xfrm>
            <a:off x="5104408" y="2990105"/>
            <a:ext cx="1181100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Room Utilization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39" name="Text 34"/>
          <p:cNvSpPr/>
          <p:nvPr/>
        </p:nvSpPr>
        <p:spPr>
          <a:xfrm>
            <a:off x="5136396" y="3221007"/>
            <a:ext cx="3051810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Balance the usage across all available rooms.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40" name="Shape 35"/>
          <p:cNvSpPr/>
          <p:nvPr/>
        </p:nvSpPr>
        <p:spPr>
          <a:xfrm>
            <a:off x="4684038" y="3656023"/>
            <a:ext cx="371475" cy="15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1" name="Text 36"/>
          <p:cNvSpPr/>
          <p:nvPr/>
        </p:nvSpPr>
        <p:spPr>
          <a:xfrm>
            <a:off x="4729758" y="3661103"/>
            <a:ext cx="211455" cy="160655"/>
          </a:xfrm>
          <a:prstGeom prst="rect">
            <a:avLst/>
          </a:prstGeom>
          <a:noFill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90" b="1" dirty="0">
                <a:solidFill>
                  <a:srgbClr val="FFFFFF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S4</a:t>
            </a:r>
            <a:endParaRPr lang="en-US" sz="890" b="1" dirty="0">
              <a:solidFill>
                <a:srgbClr val="FFFFFF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42" name="Text 37"/>
          <p:cNvSpPr/>
          <p:nvPr/>
        </p:nvSpPr>
        <p:spPr>
          <a:xfrm>
            <a:off x="5104408" y="2357448"/>
            <a:ext cx="1284605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Day Concentration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43" name="Text 38"/>
          <p:cNvSpPr/>
          <p:nvPr/>
        </p:nvSpPr>
        <p:spPr>
          <a:xfrm>
            <a:off x="5136793" y="2578190"/>
            <a:ext cx="3313430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Minimize the number of teaching days per week.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44" name="Shape 39"/>
          <p:cNvSpPr/>
          <p:nvPr/>
        </p:nvSpPr>
        <p:spPr>
          <a:xfrm>
            <a:off x="4652923" y="4326386"/>
            <a:ext cx="371475" cy="156576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45" name="Text 40"/>
          <p:cNvSpPr/>
          <p:nvPr/>
        </p:nvSpPr>
        <p:spPr>
          <a:xfrm>
            <a:off x="4729441" y="4326386"/>
            <a:ext cx="227330" cy="160655"/>
          </a:xfrm>
          <a:prstGeom prst="rect">
            <a:avLst/>
          </a:prstGeom>
          <a:noFill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S5</a:t>
            </a:r>
            <a:endParaRPr lang="en-US" sz="990" b="1" dirty="0">
              <a:solidFill>
                <a:srgbClr val="FFFFFF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46" name="Text 41"/>
          <p:cNvSpPr/>
          <p:nvPr/>
        </p:nvSpPr>
        <p:spPr>
          <a:xfrm>
            <a:off x="5024398" y="4326386"/>
            <a:ext cx="1489075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Optimal Room Match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47" name="Text 42"/>
          <p:cNvSpPr/>
          <p:nvPr/>
        </p:nvSpPr>
        <p:spPr>
          <a:xfrm>
            <a:off x="5103971" y="4587133"/>
            <a:ext cx="2894965" cy="1663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Best fit for room size and equipment level.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6572250" cy="4102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Sitka Display" charset="0"/>
                <a:ea typeface="Sitka Display" charset="0"/>
                <a:cs typeface="Sitka Display" charset="0"/>
              </a:rPr>
              <a:t>Algorithm Design - AMOGA Framework</a:t>
            </a:r>
            <a:endParaRPr lang="en-US" sz="2800" b="1" dirty="0">
              <a:solidFill>
                <a:srgbClr val="0F172A"/>
              </a:solidFill>
              <a:latin typeface="Sitka Display" charset="0"/>
              <a:ea typeface="Sitka Display" charset="0"/>
              <a:cs typeface="Sitka Display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1477612"/>
            <a:ext cx="308864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AMOGA Framework Overview</a:t>
            </a:r>
            <a:endParaRPr lang="en-US" sz="20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799081"/>
            <a:ext cx="4526291" cy="692150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Adaptive Multi-Objective Genetic Algorithm</a:t>
            </a:r>
            <a:r>
              <a:rPr lang="en-US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: Designed to handle complex constraints and multiple optimization goals.</a:t>
            </a:r>
            <a:endParaRPr lang="en-US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2583941"/>
            <a:ext cx="4526291" cy="692150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Selection Operator</a:t>
            </a:r>
            <a:r>
              <a:rPr lang="en-US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: Tournament Selection (Size = 5) to maintain a balance between selection pressure and population diversity.</a:t>
            </a:r>
            <a:endParaRPr lang="en-US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3513581"/>
            <a:ext cx="4526291" cy="46164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Crossover &amp; Mutation</a:t>
            </a:r>
            <a:r>
              <a:rPr lang="en-US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: Uniform Crossover (Rate: 0.85) and Adaptive Mutation mechanism.</a:t>
            </a:r>
            <a:endParaRPr lang="en-US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326391" y="1477612"/>
            <a:ext cx="3360409" cy="281820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" name="Shape 6"/>
          <p:cNvSpPr/>
          <p:nvPr/>
        </p:nvSpPr>
        <p:spPr>
          <a:xfrm>
            <a:off x="5326391" y="1477612"/>
            <a:ext cx="3360409" cy="28575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0" name="Text 7"/>
          <p:cNvSpPr/>
          <p:nvPr/>
        </p:nvSpPr>
        <p:spPr>
          <a:xfrm>
            <a:off x="457200" y="1799081"/>
            <a:ext cx="67310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•</a:t>
            </a:r>
            <a:endParaRPr lang="en-US" sz="1400" b="1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2630296"/>
            <a:ext cx="67310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•</a:t>
            </a:r>
            <a:endParaRPr lang="en-US" sz="1400" b="1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3535171"/>
            <a:ext cx="67310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•</a:t>
            </a:r>
            <a:endParaRPr lang="en-US" sz="1400" b="1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97841" y="1649062"/>
            <a:ext cx="205168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Chromosome Encoding</a:t>
            </a:r>
            <a:endParaRPr lang="en-US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97830" y="1985010"/>
            <a:ext cx="362521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One-dimensional integer array representing the schedule.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784346" y="2424159"/>
            <a:ext cx="444500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Course 1</a:t>
            </a:r>
            <a:endParaRPr lang="en-US" sz="1030" dirty="0">
              <a:solidFill>
                <a:srgbClr val="64748B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497841" y="2631328"/>
            <a:ext cx="3017509" cy="26610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97841" y="2631328"/>
            <a:ext cx="1512326" cy="276860"/>
          </a:xfrm>
          <a:prstGeom prst="rect">
            <a:avLst/>
          </a:prstGeom>
          <a:noFill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Time Slot</a:t>
            </a:r>
            <a:endParaRPr lang="en-US" sz="12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010167" y="2631328"/>
            <a:ext cx="1505183" cy="276860"/>
          </a:xfrm>
          <a:prstGeom prst="rect">
            <a:avLst/>
          </a:prstGeom>
          <a:noFill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Room</a:t>
            </a:r>
            <a:endParaRPr lang="en-US" sz="12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812603" y="2940295"/>
            <a:ext cx="387985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Course 2</a:t>
            </a:r>
            <a:endParaRPr lang="en-US" sz="930" dirty="0">
              <a:solidFill>
                <a:srgbClr val="64748B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497841" y="3147464"/>
            <a:ext cx="3017509" cy="26610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97841" y="3147464"/>
            <a:ext cx="1512326" cy="276860"/>
          </a:xfrm>
          <a:prstGeom prst="rect">
            <a:avLst/>
          </a:prstGeom>
          <a:noFill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Time Slot</a:t>
            </a:r>
            <a:endParaRPr lang="en-US" sz="12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010167" y="3147464"/>
            <a:ext cx="1505183" cy="276860"/>
          </a:xfrm>
          <a:prstGeom prst="rect">
            <a:avLst/>
          </a:prstGeom>
          <a:noFill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Room</a:t>
            </a:r>
            <a:endParaRPr lang="en-US" sz="12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967543" y="3513581"/>
            <a:ext cx="78105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40" dirty="0">
                <a:solidFill>
                  <a:srgbClr val="64748B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...</a:t>
            </a:r>
            <a:endParaRPr lang="en-US" sz="1040" dirty="0">
              <a:solidFill>
                <a:srgbClr val="64748B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770693" y="3765398"/>
            <a:ext cx="471805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Course N</a:t>
            </a:r>
            <a:endParaRPr lang="en-US" sz="1030" dirty="0">
              <a:solidFill>
                <a:srgbClr val="64748B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497841" y="3972567"/>
            <a:ext cx="3017509" cy="266105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97841" y="3972567"/>
            <a:ext cx="1512326" cy="276860"/>
          </a:xfrm>
          <a:prstGeom prst="rect">
            <a:avLst/>
          </a:prstGeom>
          <a:noFill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Time Slot</a:t>
            </a:r>
            <a:endParaRPr lang="en-US" sz="12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010167" y="3972567"/>
            <a:ext cx="1505183" cy="276860"/>
          </a:xfrm>
          <a:prstGeom prst="rect">
            <a:avLst/>
          </a:prstGeom>
          <a:noFill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Room</a:t>
            </a:r>
            <a:endParaRPr lang="en-US" sz="12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6910070" cy="4102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Sitka Display" charset="0"/>
                <a:ea typeface="Sitka Display" charset="0"/>
                <a:cs typeface="Sitka Display" charset="0"/>
              </a:rPr>
              <a:t>Main Originality: The AMOGA Innovation</a:t>
            </a:r>
            <a:endParaRPr lang="en-US" sz="2800" b="1" dirty="0">
              <a:solidFill>
                <a:srgbClr val="0F172A"/>
              </a:solidFill>
              <a:latin typeface="Sitka Display" charset="0"/>
              <a:ea typeface="Sitka Display" charset="0"/>
              <a:cs typeface="Sitka Display" charset="0"/>
            </a:endParaRPr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571500" y="1534795"/>
            <a:ext cx="2476500" cy="312293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571500" y="1534762"/>
            <a:ext cx="2476509" cy="42863"/>
          </a:xfrm>
          <a:prstGeom prst="rect">
            <a:avLst/>
          </a:prstGeom>
          <a:solidFill>
            <a:srgbClr val="059669"/>
          </a:solidFill>
        </p:spPr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16859" y="1749075"/>
            <a:ext cx="385763" cy="34290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6"/>
            </p:custDataLst>
          </p:nvPr>
        </p:nvSpPr>
        <p:spPr>
          <a:xfrm>
            <a:off x="742950" y="2234850"/>
            <a:ext cx="2133609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Specialized Media Constraint Modeling</a:t>
            </a:r>
            <a:endParaRPr lang="en-US" sz="20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8" name="Text 4"/>
          <p:cNvSpPr/>
          <p:nvPr>
            <p:custDataLst>
              <p:tags r:id="rId7"/>
            </p:custDataLst>
          </p:nvPr>
        </p:nvSpPr>
        <p:spPr>
          <a:xfrm>
            <a:off x="742950" y="2677160"/>
            <a:ext cx="2133600" cy="19805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Explicitly models </a:t>
            </a:r>
            <a:r>
              <a:rPr lang="en-US" sz="1800" dirty="0">
                <a:solidFill>
                  <a:srgbClr val="00B050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Studios, Recording Rooms, and Animation Labs </a:t>
            </a:r>
            <a:r>
              <a:rPr lang="en-US" sz="18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as first-class entities with equipment-specific constraints, moving beyond standard classroom scheduling.</a:t>
            </a:r>
            <a:endParaRPr lang="en-US" sz="18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9" name="Shape 5"/>
          <p:cNvSpPr/>
          <p:nvPr>
            <p:custDataLst>
              <p:tags r:id="rId8"/>
            </p:custDataLst>
          </p:nvPr>
        </p:nvSpPr>
        <p:spPr>
          <a:xfrm>
            <a:off x="3333750" y="1534795"/>
            <a:ext cx="2476500" cy="314452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0" name="Shape 6"/>
          <p:cNvSpPr/>
          <p:nvPr>
            <p:custDataLst>
              <p:tags r:id="rId9"/>
            </p:custDataLst>
          </p:nvPr>
        </p:nvSpPr>
        <p:spPr>
          <a:xfrm>
            <a:off x="3333759" y="1534762"/>
            <a:ext cx="2476509" cy="42863"/>
          </a:xfrm>
          <a:prstGeom prst="rect">
            <a:avLst/>
          </a:prstGeom>
          <a:solidFill>
            <a:srgbClr val="D97706"/>
          </a:solidFill>
        </p:spPr>
      </p:sp>
      <p:pic>
        <p:nvPicPr>
          <p:cNvPr id="11" name="Image 2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400550" y="1749075"/>
            <a:ext cx="342900" cy="342900"/>
          </a:xfrm>
          <a:prstGeom prst="rect">
            <a:avLst/>
          </a:prstGeom>
        </p:spPr>
      </p:pic>
      <p:sp>
        <p:nvSpPr>
          <p:cNvPr id="12" name="Text 7"/>
          <p:cNvSpPr/>
          <p:nvPr>
            <p:custDataLst>
              <p:tags r:id="rId12"/>
            </p:custDataLst>
          </p:nvPr>
        </p:nvSpPr>
        <p:spPr>
          <a:xfrm>
            <a:off x="3505209" y="2234850"/>
            <a:ext cx="2133609" cy="576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Real-time Diversity-based Adaptive Control</a:t>
            </a:r>
            <a:endParaRPr lang="en-US" sz="20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3" name="Text 8"/>
          <p:cNvSpPr/>
          <p:nvPr>
            <p:custDataLst>
              <p:tags r:id="rId13"/>
            </p:custDataLst>
          </p:nvPr>
        </p:nvSpPr>
        <p:spPr>
          <a:xfrm>
            <a:off x="3505209" y="2811249"/>
            <a:ext cx="2133609" cy="1846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Unlike fixed-parameter GAs, AMOGA monitors </a:t>
            </a:r>
            <a:r>
              <a:rPr lang="en-US" sz="1800" dirty="0">
                <a:solidFill>
                  <a:srgbClr val="00B050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Population Fitness Variance</a:t>
            </a:r>
            <a:r>
              <a:rPr lang="en-US" sz="18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 in every generation to dynamically adjust mutation rates, preventing premature convergence.</a:t>
            </a:r>
            <a:endParaRPr lang="en-US" sz="18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4" name="Shape 9"/>
          <p:cNvSpPr/>
          <p:nvPr>
            <p:custDataLst>
              <p:tags r:id="rId14"/>
            </p:custDataLst>
          </p:nvPr>
        </p:nvSpPr>
        <p:spPr>
          <a:xfrm>
            <a:off x="6096000" y="1534795"/>
            <a:ext cx="2476500" cy="310007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5" name="Shape 10"/>
          <p:cNvSpPr/>
          <p:nvPr>
            <p:custDataLst>
              <p:tags r:id="rId15"/>
            </p:custDataLst>
          </p:nvPr>
        </p:nvSpPr>
        <p:spPr>
          <a:xfrm>
            <a:off x="6096019" y="1534762"/>
            <a:ext cx="2476509" cy="42863"/>
          </a:xfrm>
          <a:prstGeom prst="rect">
            <a:avLst/>
          </a:prstGeom>
          <a:solidFill>
            <a:srgbClr val="0F172A"/>
          </a:solidFill>
        </p:spPr>
      </p:sp>
      <p:pic>
        <p:nvPicPr>
          <p:cNvPr id="16" name="Image 3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162809" y="1749075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/>
          <p:nvPr>
            <p:custDataLst>
              <p:tags r:id="rId18"/>
            </p:custDataLst>
          </p:nvPr>
        </p:nvSpPr>
        <p:spPr>
          <a:xfrm>
            <a:off x="6267469" y="2234850"/>
            <a:ext cx="2133609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Hierarchical Fitness Landscape</a:t>
            </a:r>
            <a:endParaRPr lang="en-US" sz="20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8" name="Text 12"/>
          <p:cNvSpPr/>
          <p:nvPr>
            <p:custDataLst>
              <p:tags r:id="rId19"/>
            </p:custDataLst>
          </p:nvPr>
        </p:nvSpPr>
        <p:spPr>
          <a:xfrm>
            <a:off x="6267450" y="2682875"/>
            <a:ext cx="2133600" cy="19513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A strict score-based boundary (Score 100) that separates </a:t>
            </a:r>
            <a:r>
              <a:rPr lang="en-US" sz="1800" dirty="0">
                <a:solidFill>
                  <a:srgbClr val="00B050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feasible and infeasible regions</a:t>
            </a:r>
            <a:r>
              <a:rPr lang="en-US" sz="18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, creating a strong evolutionary gradient driving the population toward valid solutions.</a:t>
            </a:r>
            <a:endParaRPr lang="en-US" sz="18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90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7860030" cy="4102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Sitka Display" charset="0"/>
                <a:ea typeface="Sitka Display" charset="0"/>
                <a:cs typeface="Sitka Display" charset="0"/>
              </a:rPr>
              <a:t>Core Innovation 1: Adaptive Parameter Control</a:t>
            </a:r>
            <a:endParaRPr lang="en-US" sz="2800" b="1" dirty="0">
              <a:solidFill>
                <a:srgbClr val="0F172A"/>
              </a:solidFill>
              <a:latin typeface="Sitka Display" charset="0"/>
              <a:ea typeface="Sitka Display" charset="0"/>
              <a:cs typeface="Sitka Display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534762"/>
            <a:ext cx="322834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Overcoming Premature Convergence</a:t>
            </a:r>
            <a:endParaRPr lang="en-US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884806"/>
            <a:ext cx="4286250" cy="46164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Traditional GAs often get trapped in </a:t>
            </a:r>
            <a:r>
              <a:rPr lang="en-US" sz="16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local optima</a:t>
            </a: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 due to fixed mutation and crossover rates.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2520600"/>
            <a:ext cx="4286250" cy="461645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Proposed solution: A dynamic regulation mechanism based on </a:t>
            </a:r>
            <a:r>
              <a:rPr lang="en-US" sz="16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Population Fitness Variance</a:t>
            </a: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3156393"/>
            <a:ext cx="4286250" cy="692150"/>
          </a:xfrm>
          <a:prstGeom prst="rect">
            <a:avLst/>
          </a:prstGeom>
          <a:noFill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Real-time monitoring of diversity allows the algorithm to switch between </a:t>
            </a:r>
            <a:r>
              <a:rPr lang="en-US" sz="16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Exploration</a:t>
            </a: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 and </a:t>
            </a:r>
            <a:r>
              <a:rPr lang="en-US" sz="16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Exploitation</a:t>
            </a: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286375" y="1534762"/>
            <a:ext cx="3286125" cy="3654335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" name="Shape 6"/>
          <p:cNvSpPr/>
          <p:nvPr/>
        </p:nvSpPr>
        <p:spPr>
          <a:xfrm>
            <a:off x="5286375" y="1534762"/>
            <a:ext cx="3286125" cy="28575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0" name="Text 7"/>
          <p:cNvSpPr/>
          <p:nvPr/>
        </p:nvSpPr>
        <p:spPr>
          <a:xfrm>
            <a:off x="571500" y="1884806"/>
            <a:ext cx="67310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•</a:t>
            </a:r>
            <a:endParaRPr lang="en-US" sz="1400" b="1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1500" y="2520600"/>
            <a:ext cx="67310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•</a:t>
            </a:r>
            <a:endParaRPr lang="en-US" sz="1400" b="1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1500" y="3156393"/>
            <a:ext cx="67310" cy="2305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•</a:t>
            </a:r>
            <a:endParaRPr lang="en-US" sz="1400" b="1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500688" y="1749075"/>
            <a:ext cx="122555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Control Logic</a:t>
            </a:r>
            <a:endParaRPr lang="en-US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500688" y="2099118"/>
            <a:ext cx="1665605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Low Diversity (&lt; 0.001)</a:t>
            </a:r>
            <a:endParaRPr lang="en-US" sz="1400" b="1" dirty="0">
              <a:solidFill>
                <a:srgbClr val="D97706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500688" y="2383082"/>
            <a:ext cx="28575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System detects local optima. Mutation rate is increased by </a:t>
            </a:r>
            <a:r>
              <a:rPr lang="en-US" sz="12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1.5x</a:t>
            </a: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 to promote global exploration.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500688" y="3137446"/>
            <a:ext cx="101219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High Diversity</a:t>
            </a:r>
            <a:endParaRPr lang="en-US" sz="1400" b="1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500688" y="3421410"/>
            <a:ext cx="28575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System focuses on refinement. Mutation rate is decreased by </a:t>
            </a:r>
            <a:r>
              <a:rPr lang="en-US" sz="12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0.9x</a:t>
            </a: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 to accelerate convergence.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500688" y="4175773"/>
            <a:ext cx="937895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Key Benefit</a:t>
            </a:r>
            <a:endParaRPr lang="en-US" sz="16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500688" y="4491884"/>
            <a:ext cx="28575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Maintains a healthy balance throughout the evolution process, ensuring robust search performance.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" y="-159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06087"/>
            <a:ext cx="8163560" cy="4102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Sitka Display" charset="0"/>
                <a:ea typeface="Sitka Display" charset="0"/>
                <a:cs typeface="Sitka Display" charset="0"/>
              </a:rPr>
              <a:t>Core Innovation 2: Hierarchical Fitness Function</a:t>
            </a:r>
            <a:endParaRPr lang="en-US" sz="2800" b="1" dirty="0">
              <a:solidFill>
                <a:srgbClr val="0F172A"/>
              </a:solidFill>
              <a:latin typeface="Sitka Display" charset="0"/>
              <a:ea typeface="Sitka Display" charset="0"/>
              <a:cs typeface="Sitka Display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1456181"/>
            <a:ext cx="325374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Strict Layered Evaluation System</a:t>
            </a:r>
            <a:endParaRPr lang="en-US" sz="20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92931" y="1777650"/>
            <a:ext cx="3039110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Priority 1: Hard Constraint Satisfaction</a:t>
            </a:r>
            <a:endParaRPr lang="en-US" sz="16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92931" y="2065186"/>
            <a:ext cx="4459123" cy="2819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Absolute priority is given to feasibility. Any violation of H1-H5 triggers a severe penalty, ensuring the algorithm focuses on finding a valid solution first.</a:t>
            </a:r>
            <a:endParaRPr lang="en-US" sz="12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2931" y="2511670"/>
            <a:ext cx="3081655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Priority 2: Soft Constraint Optimization</a:t>
            </a:r>
            <a:endParaRPr lang="en-US" sz="16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2931" y="2799206"/>
            <a:ext cx="4459123" cy="2819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Once feasibility is achieved, the algorithm shifts focus to optimizing quality metrics (S1-S5) and resource utilization rates.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25145" y="3639390"/>
            <a:ext cx="4594854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This </a:t>
            </a:r>
            <a:r>
              <a:rPr lang="en-US" sz="1200" b="1" dirty="0">
                <a:solidFill>
                  <a:srgbClr val="D97706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Hierarchical Pressure</a:t>
            </a: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 creates a strong gradient in the fitness landscape, preventing the algorithm from wasting cycles on high-quality but infeasible schedules.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337804" y="1456181"/>
            <a:ext cx="3348996" cy="240666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1" name="Shape 8"/>
          <p:cNvSpPr/>
          <p:nvPr/>
        </p:nvSpPr>
        <p:spPr>
          <a:xfrm>
            <a:off x="5337804" y="1456181"/>
            <a:ext cx="3348996" cy="28575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2" name="Text 9"/>
          <p:cNvSpPr/>
          <p:nvPr/>
        </p:nvSpPr>
        <p:spPr>
          <a:xfrm>
            <a:off x="5480679" y="1599056"/>
            <a:ext cx="175260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Mathematical Logic</a:t>
            </a:r>
            <a:endParaRPr lang="en-US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80679" y="1920525"/>
            <a:ext cx="3063246" cy="77509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94979" y="2034825"/>
            <a:ext cx="1558290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kern="0" spc="1" dirty="0">
                <a:solidFill>
                  <a:srgbClr val="64748B"/>
                </a:solidFill>
                <a:ea typeface="Therese" panose="00000500000000000000" charset="0"/>
                <a:cs typeface="+mn-lt"/>
              </a:rPr>
              <a:t>INFEASIBLE STATE (H &gt; 0)</a:t>
            </a:r>
            <a:endParaRPr lang="en-US" sz="1200" kern="0" spc="1" dirty="0">
              <a:solidFill>
                <a:srgbClr val="64748B"/>
              </a:solidFill>
              <a:ea typeface="Therese" panose="00000500000000000000" charset="0"/>
              <a:cs typeface="+mn-lt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594979" y="2218776"/>
            <a:ext cx="268605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0F172A"/>
                </a:solidFill>
                <a:ea typeface="Therese" panose="00000500000000000000" charset="0"/>
                <a:cs typeface="+mn-lt"/>
              </a:rPr>
              <a:t>Fitness = 100 / (H_violations + 1)</a:t>
            </a:r>
            <a:endParaRPr lang="en-US" sz="1600" dirty="0">
              <a:solidFill>
                <a:srgbClr val="0F172A"/>
              </a:solidFill>
              <a:ea typeface="Therese" panose="00000500000000000000" charset="0"/>
              <a:cs typeface="+mn-lt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594979" y="2454520"/>
            <a:ext cx="1747520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D97706"/>
                </a:solidFill>
                <a:ea typeface="Therese" panose="00000500000000000000" charset="0"/>
                <a:cs typeface="+mn-lt"/>
              </a:rPr>
              <a:t>Result: Score is always &lt; 100</a:t>
            </a:r>
            <a:endParaRPr lang="en-US" sz="1200" dirty="0">
              <a:solidFill>
                <a:srgbClr val="D97706"/>
              </a:solidFill>
              <a:ea typeface="Therese" panose="00000500000000000000" charset="0"/>
              <a:cs typeface="+mn-lt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480679" y="2695622"/>
            <a:ext cx="3063246" cy="77509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94979" y="2809922"/>
            <a:ext cx="1421765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kern="0" spc="1" dirty="0">
                <a:solidFill>
                  <a:srgbClr val="64748B"/>
                </a:solidFill>
                <a:ea typeface="Therese" panose="00000500000000000000" charset="0"/>
                <a:cs typeface="+mn-lt"/>
              </a:rPr>
              <a:t>FEASIBLE STATE (H = 0)</a:t>
            </a:r>
            <a:endParaRPr lang="en-US" sz="1200" kern="0" spc="1" dirty="0">
              <a:solidFill>
                <a:srgbClr val="64748B"/>
              </a:solidFill>
              <a:ea typeface="Therese" panose="00000500000000000000" charset="0"/>
              <a:cs typeface="+mn-lt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594979" y="2993873"/>
            <a:ext cx="262128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0F172A"/>
                </a:solidFill>
                <a:ea typeface="Therese" panose="00000500000000000000" charset="0"/>
                <a:cs typeface="+mn-lt"/>
              </a:rPr>
              <a:t>Fitness = 100 + Soft_Score + Resource_Util</a:t>
            </a:r>
            <a:endParaRPr lang="en-US" sz="1200" dirty="0">
              <a:solidFill>
                <a:srgbClr val="0F172A"/>
              </a:solidFill>
              <a:ea typeface="Therese" panose="00000500000000000000" charset="0"/>
              <a:cs typeface="+mn-lt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594979" y="3229617"/>
            <a:ext cx="1747520" cy="114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dirty="0">
                <a:solidFill>
                  <a:srgbClr val="059669"/>
                </a:solidFill>
                <a:ea typeface="Therese" panose="00000500000000000000" charset="0"/>
                <a:cs typeface="+mn-lt"/>
              </a:rPr>
              <a:t>Result: Score is always &gt; 100</a:t>
            </a:r>
            <a:endParaRPr lang="en-US" sz="1200" dirty="0">
              <a:solidFill>
                <a:srgbClr val="059669"/>
              </a:solidFill>
              <a:ea typeface="Therese" panose="00000500000000000000" charset="0"/>
              <a:cs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770381"/>
            <a:ext cx="828675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F172A"/>
                </a:solidFill>
                <a:latin typeface="Sitka Display" charset="0"/>
                <a:ea typeface="Sitka Display" charset="0"/>
                <a:cs typeface="Sitka Display" charset="0"/>
              </a:rPr>
              <a:t>System Architecture and Implementation</a:t>
            </a:r>
            <a:endParaRPr lang="en-US" sz="2435" dirty="0"/>
          </a:p>
        </p:txBody>
      </p:sp>
      <p:sp>
        <p:nvSpPr>
          <p:cNvPr id="4" name="Shape 1"/>
          <p:cNvSpPr/>
          <p:nvPr/>
        </p:nvSpPr>
        <p:spPr>
          <a:xfrm>
            <a:off x="485775" y="1391887"/>
            <a:ext cx="8286750" cy="771525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5" name="Shape 2"/>
          <p:cNvSpPr/>
          <p:nvPr/>
        </p:nvSpPr>
        <p:spPr>
          <a:xfrm>
            <a:off x="485775" y="1391887"/>
            <a:ext cx="57150" cy="771525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6" name="Text 3"/>
          <p:cNvSpPr/>
          <p:nvPr/>
        </p:nvSpPr>
        <p:spPr>
          <a:xfrm>
            <a:off x="657225" y="1682995"/>
            <a:ext cx="1315085" cy="1917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PRESENTATION</a:t>
            </a:r>
            <a:endParaRPr lang="en-US" sz="1400" b="1" kern="0" spc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085975" y="1554770"/>
            <a:ext cx="528638" cy="240013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" name="Text 5"/>
          <p:cNvSpPr/>
          <p:nvPr/>
        </p:nvSpPr>
        <p:spPr>
          <a:xfrm>
            <a:off x="2085975" y="1554770"/>
            <a:ext cx="494665" cy="246380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9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Vue.js</a:t>
            </a:r>
            <a:endParaRPr lang="en-US" sz="99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721769" y="1554770"/>
            <a:ext cx="616148" cy="240013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" name="Text 7"/>
          <p:cNvSpPr/>
          <p:nvPr/>
        </p:nvSpPr>
        <p:spPr>
          <a:xfrm>
            <a:off x="2721769" y="1554770"/>
            <a:ext cx="579755" cy="246380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9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ECharts</a:t>
            </a:r>
            <a:endParaRPr lang="en-US" sz="99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409355" y="1590489"/>
            <a:ext cx="478091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Responsive web interface with interactive data visualization dashboards for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085975" y="1819787"/>
            <a:ext cx="313817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schedule management and algorithm monitoring.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85775" y="2220562"/>
            <a:ext cx="8286750" cy="771525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4" name="Shape 11"/>
          <p:cNvSpPr/>
          <p:nvPr/>
        </p:nvSpPr>
        <p:spPr>
          <a:xfrm>
            <a:off x="485775" y="2220562"/>
            <a:ext cx="57150" cy="771525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5" name="Text 12"/>
          <p:cNvSpPr/>
          <p:nvPr/>
        </p:nvSpPr>
        <p:spPr>
          <a:xfrm>
            <a:off x="657225" y="2511670"/>
            <a:ext cx="701675" cy="1917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SERVICE</a:t>
            </a:r>
            <a:endParaRPr lang="en-US" sz="1400" b="1" kern="0" spc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085975" y="2383445"/>
            <a:ext cx="819745" cy="240013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7" name="Text 14"/>
          <p:cNvSpPr/>
          <p:nvPr/>
        </p:nvSpPr>
        <p:spPr>
          <a:xfrm>
            <a:off x="2085975" y="2383445"/>
            <a:ext cx="761365" cy="246380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9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Spring Boot</a:t>
            </a:r>
            <a:endParaRPr lang="en-US" sz="99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012877" y="2383445"/>
            <a:ext cx="832247" cy="240013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9" name="Text 16"/>
          <p:cNvSpPr/>
          <p:nvPr/>
        </p:nvSpPr>
        <p:spPr>
          <a:xfrm>
            <a:off x="3012877" y="2383445"/>
            <a:ext cx="849630" cy="246380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9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RESTful API</a:t>
            </a:r>
            <a:endParaRPr lang="en-US" sz="99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916561" y="2419164"/>
            <a:ext cx="476059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Core AMOGA scheduling engine encapsulated as a microservice. Handles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085975" y="2648462"/>
            <a:ext cx="274447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complex combinatorial optimization tasks.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85775" y="3049237"/>
            <a:ext cx="8286750" cy="771525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3" name="Shape 20"/>
          <p:cNvSpPr/>
          <p:nvPr/>
        </p:nvSpPr>
        <p:spPr>
          <a:xfrm>
            <a:off x="485775" y="3049237"/>
            <a:ext cx="57150" cy="77152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4" name="Text 21"/>
          <p:cNvSpPr/>
          <p:nvPr/>
        </p:nvSpPr>
        <p:spPr>
          <a:xfrm>
            <a:off x="657225" y="3340345"/>
            <a:ext cx="471170" cy="1917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DATA</a:t>
            </a:r>
            <a:endParaRPr lang="en-US" sz="1400" b="1" kern="0" spc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085975" y="3212120"/>
            <a:ext cx="578644" cy="240013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6" name="Text 23"/>
          <p:cNvSpPr/>
          <p:nvPr/>
        </p:nvSpPr>
        <p:spPr>
          <a:xfrm>
            <a:off x="2085975" y="3212120"/>
            <a:ext cx="589915" cy="246380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9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MySQL</a:t>
            </a:r>
            <a:endParaRPr lang="en-US" sz="99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2771775" y="3212120"/>
            <a:ext cx="626864" cy="240013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5"/>
          <p:cNvSpPr/>
          <p:nvPr/>
        </p:nvSpPr>
        <p:spPr>
          <a:xfrm>
            <a:off x="2771775" y="3212120"/>
            <a:ext cx="587375" cy="246380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9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MyBatis</a:t>
            </a:r>
            <a:endParaRPr lang="en-US" sz="99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470077" y="3247839"/>
            <a:ext cx="529971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Relational database for persistent storage of course data, room configurations, and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085975" y="3477137"/>
            <a:ext cx="133667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generated timetables.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16" y="3992212"/>
            <a:ext cx="228600" cy="2286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75301" y="4274787"/>
            <a:ext cx="241935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Real-time Convergence Monitoring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22" y="3992212"/>
            <a:ext cx="228600" cy="2286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3584243" y="4277962"/>
            <a:ext cx="2089785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Parameter Sensitivity Analysis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656" y="3992212"/>
            <a:ext cx="228600" cy="2286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360777" y="4277962"/>
            <a:ext cx="211836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Interactive Manual Adjustment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13231"/>
            <a:ext cx="828675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F172A"/>
                </a:solidFill>
                <a:latin typeface="Sitka Display" charset="0"/>
                <a:ea typeface="Sitka Display" charset="0"/>
                <a:cs typeface="Sitka Display" charset="0"/>
              </a:rPr>
              <a:t>Results: Convergence &amp; Efficiency</a:t>
            </a:r>
            <a:endParaRPr lang="en-US" sz="243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20450"/>
            <a:ext cx="4886325" cy="2143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57825" y="1297232"/>
            <a:ext cx="987425" cy="4102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dirty="0">
                <a:solidFill>
                  <a:srgbClr val="00B050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42.9%</a:t>
            </a:r>
            <a:endParaRPr lang="en-US" sz="3200" b="1" dirty="0">
              <a:solidFill>
                <a:srgbClr val="00B050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457825" y="1820512"/>
            <a:ext cx="1350010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Faster Convergence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518150" y="2024546"/>
            <a:ext cx="3322955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Reduction in generations compared to Fixed GA.</a:t>
            </a:r>
            <a:endParaRPr lang="en-US" sz="1400" dirty="0">
              <a:solidFill>
                <a:srgbClr val="64748B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457825" y="2165198"/>
            <a:ext cx="1306195" cy="4102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dirty="0">
                <a:solidFill>
                  <a:srgbClr val="00B050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8,920ms</a:t>
            </a:r>
            <a:endParaRPr lang="en-US" sz="3600" b="1" dirty="0">
              <a:solidFill>
                <a:srgbClr val="059669"/>
              </a:solidFill>
              <a:latin typeface="Sitka Display" charset="0"/>
              <a:ea typeface="Sitka Display" charset="0"/>
              <a:cs typeface="Sitka Display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457825" y="2635773"/>
            <a:ext cx="1087120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Execution Time</a:t>
            </a:r>
            <a:endParaRPr lang="en-US" sz="14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457825" y="2876001"/>
            <a:ext cx="2779395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27.7% improvement in processing speed.</a:t>
            </a:r>
            <a:endParaRPr lang="en-US" sz="1400" dirty="0">
              <a:solidFill>
                <a:srgbClr val="64748B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457825" y="3099243"/>
            <a:ext cx="3257550" cy="721519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2" name="Shape 8"/>
          <p:cNvSpPr/>
          <p:nvPr/>
        </p:nvSpPr>
        <p:spPr>
          <a:xfrm>
            <a:off x="5457825" y="3099243"/>
            <a:ext cx="3257550" cy="28575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3" name="Text 9"/>
          <p:cNvSpPr/>
          <p:nvPr/>
        </p:nvSpPr>
        <p:spPr>
          <a:xfrm>
            <a:off x="5457825" y="3099243"/>
            <a:ext cx="3257550" cy="712470"/>
          </a:xfrm>
          <a:prstGeom prst="rect">
            <a:avLst/>
          </a:prstGeom>
          <a:noFill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AMOGA achieves stable convergence in </a:t>
            </a:r>
            <a:r>
              <a:rPr lang="en-US" sz="1200" b="1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89 generations</a:t>
            </a: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, significantly outperforming SA and PSO in medium-scale scheduling tasks.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0010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F172A"/>
                </a:solidFill>
                <a:latin typeface="Sitka Display" charset="0"/>
                <a:ea typeface="Sitka Display" charset="0"/>
                <a:cs typeface="Sitka Display" charset="0"/>
              </a:rPr>
              <a:t>Results: Constraint Satisfaction</a:t>
            </a:r>
            <a:endParaRPr lang="en-US" sz="2435" dirty="0"/>
          </a:p>
        </p:txBody>
      </p:sp>
      <p:sp>
        <p:nvSpPr>
          <p:cNvPr id="4" name="Text 1"/>
          <p:cNvSpPr/>
          <p:nvPr/>
        </p:nvSpPr>
        <p:spPr>
          <a:xfrm>
            <a:off x="628650" y="1391887"/>
            <a:ext cx="385762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Hard Constraint Success Rate</a:t>
            </a:r>
            <a:endParaRPr lang="en-US" sz="1195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99068"/>
            <a:ext cx="3857625" cy="17859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8650" y="3570731"/>
            <a:ext cx="3857625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AMOGA achieves a </a:t>
            </a:r>
            <a:r>
              <a:rPr lang="en-US" sz="1200" b="1" dirty="0">
                <a:solidFill>
                  <a:srgbClr val="4755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98% success rate</a:t>
            </a:r>
            <a:r>
              <a:rPr lang="en-US" sz="1400" dirty="0">
                <a:solidFill>
                  <a:srgbClr val="4755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 in finding feasible solutions, ensuring 100% elimination of time conflicts for classes, teachers, and rooms.</a:t>
            </a:r>
            <a:endParaRPr lang="en-US" sz="1400" dirty="0">
              <a:solidFill>
                <a:srgbClr val="4755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772025" y="1391887"/>
            <a:ext cx="385762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Soft Constraint Optimization</a:t>
            </a:r>
            <a:endParaRPr lang="en-US" sz="1195" dirty="0"/>
          </a:p>
        </p:txBody>
      </p:sp>
      <p:sp>
        <p:nvSpPr>
          <p:cNvPr id="8" name="Shape 4"/>
          <p:cNvSpPr/>
          <p:nvPr/>
        </p:nvSpPr>
        <p:spPr>
          <a:xfrm>
            <a:off x="4772025" y="1699068"/>
            <a:ext cx="1871663" cy="68044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9" name="Shape 5"/>
          <p:cNvSpPr/>
          <p:nvPr/>
        </p:nvSpPr>
        <p:spPr>
          <a:xfrm>
            <a:off x="4772025" y="1699068"/>
            <a:ext cx="1871663" cy="28575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0" name="Text 6"/>
          <p:cNvSpPr/>
          <p:nvPr/>
        </p:nvSpPr>
        <p:spPr>
          <a:xfrm>
            <a:off x="4914900" y="1756218"/>
            <a:ext cx="1202690" cy="3587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dirty="0">
                <a:solidFill>
                  <a:srgbClr val="00B050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+36.3%</a:t>
            </a:r>
            <a:endParaRPr lang="en-US" sz="3200" dirty="0">
              <a:solidFill>
                <a:srgbClr val="00B050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914900" y="2156268"/>
            <a:ext cx="847725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90" b="1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Total Soft Score</a:t>
            </a:r>
            <a:endParaRPr lang="en-US" sz="1090" b="1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757988" y="1699068"/>
            <a:ext cx="1871663" cy="680442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" name="Shape 9"/>
          <p:cNvSpPr/>
          <p:nvPr/>
        </p:nvSpPr>
        <p:spPr>
          <a:xfrm>
            <a:off x="6757988" y="1699068"/>
            <a:ext cx="1871663" cy="28575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4" name="Text 10"/>
          <p:cNvSpPr/>
          <p:nvPr/>
        </p:nvSpPr>
        <p:spPr>
          <a:xfrm>
            <a:off x="6900863" y="1756218"/>
            <a:ext cx="1202690" cy="3587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algn="l">
              <a:lnSpc>
                <a:spcPts val="2800"/>
              </a:lnSpc>
              <a:buClrTx/>
              <a:buSzTx/>
              <a:buFontTx/>
              <a:buNone/>
            </a:pPr>
            <a:r>
              <a:rPr lang="en-US" sz="3200" dirty="0">
                <a:solidFill>
                  <a:srgbClr val="00B050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+48.5%</a:t>
            </a:r>
            <a:endParaRPr lang="en-US" sz="3200" dirty="0">
              <a:solidFill>
                <a:srgbClr val="00B050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900863" y="2156268"/>
            <a:ext cx="974725" cy="1409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90" b="1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Day Concentration</a:t>
            </a:r>
            <a:endParaRPr lang="en-US" sz="1090" b="1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4737100" y="2726221"/>
            <a:ext cx="17780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✔</a:t>
            </a:r>
            <a:endParaRPr lang="en-US" sz="1400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915059" y="2685581"/>
            <a:ext cx="4223385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Teacher preference satisfaction significantly improved.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737100" y="3226402"/>
            <a:ext cx="17780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✔</a:t>
            </a:r>
            <a:endParaRPr lang="en-US" sz="1400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950619" y="3154647"/>
            <a:ext cx="404368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Balanced room utilization across specialized venues.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772660" y="3852949"/>
            <a:ext cx="17780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059669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✔</a:t>
            </a:r>
            <a:endParaRPr lang="en-US" sz="1400" dirty="0">
              <a:solidFill>
                <a:srgbClr val="059669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031264" y="3852949"/>
            <a:ext cx="3960495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Scalable performance across various problem sizes.</a:t>
            </a:r>
            <a:endParaRPr lang="en-US" sz="16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Demonstration video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37055" y="0"/>
            <a:ext cx="5274945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001000" cy="4572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0F172A"/>
                </a:solidFill>
                <a:latin typeface="Sitka Display" charset="0"/>
                <a:ea typeface="Sitka Display" charset="0"/>
                <a:cs typeface="Sitka Display" charset="0"/>
              </a:rPr>
              <a:t>Conclusion and Future Work</a:t>
            </a:r>
            <a:endParaRPr lang="en-US" sz="2435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81172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8675" y="1363312"/>
            <a:ext cx="1853565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Core Contributions</a:t>
            </a:r>
            <a:endParaRPr lang="en-US" sz="2000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13356"/>
            <a:ext cx="100013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57238" y="1684781"/>
            <a:ext cx="3700463" cy="410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Developed a specialized scheduling model addressing the unique constraints of </a:t>
            </a:r>
            <a:r>
              <a:rPr lang="en-US" sz="1200" b="1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Media Universities</a:t>
            </a: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10516"/>
            <a:ext cx="100013" cy="114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57238" y="2181941"/>
            <a:ext cx="3700463" cy="410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Proposed the </a:t>
            </a:r>
            <a:r>
              <a:rPr lang="en-US" sz="1200" b="1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AMOGA algorithm</a:t>
            </a: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 with adaptive parameter control to overcome premature convergence.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07677"/>
            <a:ext cx="100013" cy="1143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57238" y="2679102"/>
            <a:ext cx="3700463" cy="410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Implemented a production-ready </a:t>
            </a:r>
            <a:r>
              <a:rPr lang="en-US" sz="1200" b="1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Web-based system</a:t>
            </a: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 with real-time monitoring and visualization.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1381172"/>
            <a:ext cx="171450" cy="17145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943475" y="1363312"/>
            <a:ext cx="152527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F172A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Future Directions</a:t>
            </a:r>
            <a:endParaRPr lang="en-US" b="1" dirty="0">
              <a:solidFill>
                <a:srgbClr val="0F172A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00" y="1713356"/>
            <a:ext cx="100013" cy="1143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872038" y="1684781"/>
            <a:ext cx="3700463" cy="410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Distributed Computing</a:t>
            </a: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: Leverage GPU/Multi-core acceleration for ultra-large scale data processing.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300" y="2210516"/>
            <a:ext cx="100013" cy="1143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4872038" y="2181941"/>
            <a:ext cx="3700463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Deep Reinforcement Learning</a:t>
            </a: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: Integrate DRL to automatically learn optimal mutation and crossover strategies.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00" y="2913394"/>
            <a:ext cx="100013" cy="1143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4872038" y="2884819"/>
            <a:ext cx="3700463" cy="410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Intelligent Interaction</a:t>
            </a:r>
            <a:r>
              <a:rPr lang="en-US" sz="1400" dirty="0">
                <a:solidFill>
                  <a:srgbClr val="334155"/>
                </a:solidFill>
                <a:latin typeface="Centaur" panose="02030504050205020304" charset="0"/>
                <a:ea typeface="Centaur" panose="02030504050205020304" charset="0"/>
                <a:cs typeface="Centaur" panose="02030504050205020304" charset="0"/>
              </a:rPr>
              <a:t>: Mobile integration for real-time schedule notifications and feedback.</a:t>
            </a:r>
            <a:endParaRPr lang="en-US" sz="1400" dirty="0">
              <a:solidFill>
                <a:srgbClr val="334155"/>
              </a:solidFill>
              <a:latin typeface="Centaur" panose="02030504050205020304" charset="0"/>
              <a:ea typeface="Centaur" panose="02030504050205020304" charset="0"/>
              <a:cs typeface="Centaur" panose="02030504050205020304" charset="0"/>
            </a:endParaRPr>
          </a:p>
        </p:txBody>
      </p:sp>
      <p:sp>
        <p:nvSpPr>
          <p:cNvPr id="20" name="Shape 9"/>
          <p:cNvSpPr/>
          <p:nvPr/>
        </p:nvSpPr>
        <p:spPr>
          <a:xfrm>
            <a:off x="571500" y="3467705"/>
            <a:ext cx="8001000" cy="43934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1" name="Shape 10"/>
          <p:cNvSpPr/>
          <p:nvPr/>
        </p:nvSpPr>
        <p:spPr>
          <a:xfrm>
            <a:off x="571500" y="3467705"/>
            <a:ext cx="8001000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2" name="Text 11"/>
          <p:cNvSpPr/>
          <p:nvPr/>
        </p:nvSpPr>
        <p:spPr>
          <a:xfrm>
            <a:off x="571500" y="3976975"/>
            <a:ext cx="8001000" cy="439341"/>
          </a:xfrm>
          <a:prstGeom prst="rect">
            <a:avLst/>
          </a:prstGeom>
          <a:noFill/>
        </p:spPr>
        <p:txBody>
          <a:bodyPr wrap="square" lIns="0" tIns="153035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0F172A"/>
                </a:solidFill>
                <a:latin typeface="Sitka Display" charset="0"/>
                <a:ea typeface="Sitka Display" charset="0"/>
                <a:cs typeface="Sitka Display" charset="0"/>
              </a:rPr>
              <a:t>Thank You for Your Attention!</a:t>
            </a:r>
            <a:endParaRPr lang="en-US" sz="1705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2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3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4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5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6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7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8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9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10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11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12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13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14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15.xml><?xml version="1.0" encoding="utf-8"?>
<p:tagLst xmlns:p="http://schemas.openxmlformats.org/presentationml/2006/main">
  <p:tag name="KSO_WM_DIAGRAM_VIRTUALLY_FRAME" val="{&quot;height&quot;:249.20259842519687,&quot;left&quot;:45,&quot;top&quot;:120.84740157480314,&quot;width&quot;:630.0022047244095}"/>
</p:tagLst>
</file>

<file path=ppt/tags/tag16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6826</Words>
  <Application>WPS 演示</Application>
  <PresentationFormat>On-screen Show (16:9)</PresentationFormat>
  <Paragraphs>357</Paragraphs>
  <Slides>13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Sitka Display</vt:lpstr>
      <vt:lpstr>Centaur</vt:lpstr>
      <vt:lpstr>Century</vt:lpstr>
      <vt:lpstr>Therese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Asaky·Browning</cp:lastModifiedBy>
  <cp:revision>29</cp:revision>
  <dcterms:created xsi:type="dcterms:W3CDTF">2026-04-01T15:12:00Z</dcterms:created>
  <dcterms:modified xsi:type="dcterms:W3CDTF">2026-04-15T01:34:23Z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C53BD87187AD4B0699EB730BC593D50D_13</vt:lpwstr>
  </property>
</Properties>
</file>